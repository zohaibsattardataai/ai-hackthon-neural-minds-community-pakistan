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Noto Serif"/>
      <p:regular r:id="rId201314"/>
    </p:embeddedFont>
    <p:embeddedFont>
      <p:font typeface="Noto Serif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4.png"/><Relationship Id="rId7" Type="http://schemas.openxmlformats.org/officeDocument/2006/relationships/image" Target="../media/image-9-5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295525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Hackathon Project Presentation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760291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Zohaib Sattar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BS Artificial Intelligence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4275336"/>
            <a:ext cx="3236137" cy="287139"/>
          </a:xfrm>
          <a:prstGeom prst="roundRect">
            <a:avLst>
              <a:gd name="adj" fmla="val 7899"/>
            </a:avLst>
          </a:prstGeom>
          <a:solidFill>
            <a:srgbClr val="372015"/>
          </a:solidFill>
          <a:ln/>
        </p:spPr>
      </p:sp>
      <p:sp>
        <p:nvSpPr>
          <p:cNvPr id="6" name="Text 3"/>
          <p:cNvSpPr/>
          <p:nvPr/>
        </p:nvSpPr>
        <p:spPr>
          <a:xfrm>
            <a:off x="5346765" y="4331990"/>
            <a:ext cx="361891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PYTHON · PANDAS · MACHINE LEARNING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801787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Assalam-o-Alaikum — Meet Zohaib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266553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BS Artificial Intelligence student presenting three hackathon tasks: Python fundamentals, data cleaning, and a Machine Learning project for customer churn prediction.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3386435"/>
            <a:ext cx="3053877" cy="1391543"/>
          </a:xfrm>
          <a:prstGeom prst="roundRect">
            <a:avLst>
              <a:gd name="adj" fmla="val 2038"/>
            </a:avLst>
          </a:prstGeom>
          <a:solidFill>
            <a:srgbClr val="5F5153"/>
          </a:solidFill>
          <a:ln/>
        </p:spPr>
      </p:sp>
      <p:sp>
        <p:nvSpPr>
          <p:cNvPr id="6" name="Text 3"/>
          <p:cNvSpPr/>
          <p:nvPr/>
        </p:nvSpPr>
        <p:spPr>
          <a:xfrm>
            <a:off x="850482" y="3575447"/>
            <a:ext cx="2675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Task 1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0482" y="3984129"/>
            <a:ext cx="26758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Smart Attendance System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904359" y="3386435"/>
            <a:ext cx="3053976" cy="1391543"/>
          </a:xfrm>
          <a:prstGeom prst="roundRect">
            <a:avLst>
              <a:gd name="adj" fmla="val 2038"/>
            </a:avLst>
          </a:prstGeom>
          <a:solidFill>
            <a:srgbClr val="5F5153"/>
          </a:solidFill>
          <a:ln/>
        </p:spPr>
      </p:sp>
      <p:sp>
        <p:nvSpPr>
          <p:cNvPr id="9" name="Text 6"/>
          <p:cNvSpPr/>
          <p:nvPr/>
        </p:nvSpPr>
        <p:spPr>
          <a:xfrm>
            <a:off x="4093366" y="3575447"/>
            <a:ext cx="26759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Task 2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093366" y="3984129"/>
            <a:ext cx="26759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Inventory Management System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61475" y="4966990"/>
            <a:ext cx="6296860" cy="1089124"/>
          </a:xfrm>
          <a:prstGeom prst="roundRect">
            <a:avLst>
              <a:gd name="adj" fmla="val 2603"/>
            </a:avLst>
          </a:prstGeom>
          <a:solidFill>
            <a:srgbClr val="5F5153"/>
          </a:solidFill>
          <a:ln/>
        </p:spPr>
      </p:sp>
      <p:sp>
        <p:nvSpPr>
          <p:cNvPr id="12" name="Text 9"/>
          <p:cNvSpPr/>
          <p:nvPr/>
        </p:nvSpPr>
        <p:spPr>
          <a:xfrm>
            <a:off x="850482" y="5156002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Task 3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50482" y="5564684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Customer Churn Prediction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8800"/>
            <a:ext cx="626253" cy="246856"/>
          </a:xfrm>
          <a:prstGeom prst="roundRect">
            <a:avLst>
              <a:gd name="adj" fmla="val 7896"/>
            </a:avLst>
          </a:prstGeom>
          <a:noFill/>
          <a:ln w="6350">
            <a:solidFill>
              <a:srgbClr val="E2C2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05" y="607516"/>
            <a:ext cx="1040977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E2C2B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TASK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61417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Smart Attendance System</a:t>
            </a:r>
            <a:endParaRPr lang="en-US" sz="3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76338"/>
            <a:ext cx="6925990" cy="39247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90084" y="1717873"/>
            <a:ext cx="354648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Problem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990084" y="2111177"/>
            <a:ext cx="3546485" cy="966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Process student attendance records to count present/absent students, calculate percentages, and flag those below the 75% threshold.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990084" y="3217069"/>
            <a:ext cx="354648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Status Categories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990084" y="3610372"/>
            <a:ext cx="3546485" cy="822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4000"/>
              </a:lnSpc>
              <a:buSzPct val="100000"/>
              <a:buChar char="•"/>
            </a:pPr>
            <a:r>
              <a:rPr lang="en-US" sz="12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≥ 90%</a:t>
            </a:r>
            <a:pPr algn="l" marL="254000" indent="-254000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Excellent</a:t>
            </a:r>
            <a:endParaRPr lang="en-US" sz="1250" dirty="0"/>
          </a:p>
          <a:p>
            <a:pPr algn="l" marL="254000" indent="-254000">
              <a:lnSpc>
                <a:spcPct val="124000"/>
              </a:lnSpc>
              <a:buSzPct val="100000"/>
              <a:buChar char="•"/>
            </a:pPr>
            <a:r>
              <a:rPr lang="en-US" sz="12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75% – 89%</a:t>
            </a:r>
            <a:pPr algn="l" marL="254000" indent="-254000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Good</a:t>
            </a:r>
            <a:endParaRPr lang="en-US" sz="1250" dirty="0"/>
          </a:p>
          <a:p>
            <a:pPr algn="l" marL="254000" indent="-254000">
              <a:lnSpc>
                <a:spcPct val="124000"/>
              </a:lnSpc>
              <a:buSzPct val="100000"/>
              <a:buChar char="•"/>
            </a:pPr>
            <a:r>
              <a:rPr lang="en-US" sz="12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&lt; 75%</a:t>
            </a:r>
            <a:pPr algn="l" marL="254000" indent="-254000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Warning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990084" y="4572298"/>
            <a:ext cx="354648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Implementation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990084" y="4965601"/>
            <a:ext cx="3546485" cy="1207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Used </a:t>
            </a:r>
            <a:pPr algn="l" indent="0" marL="0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Python and Pandas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: cleaned data (removed spaces, standardized capitalization, eliminated duplicates), grouped by student, calculated attendance percentage, and assigned status via a custom function.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097855"/>
            <a:ext cx="728644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E2C2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154509"/>
            <a:ext cx="111142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2C2B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TASK 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46059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Inventory Management System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52372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Problem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008015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Build a menu-driven system for a small shop to manage products — each storing 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name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price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, and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quantity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1475" y="380186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Features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61475" y="4286151"/>
            <a:ext cx="5203794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Display all products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Add a new product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Update product quantity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Calculate total inventory value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32776" y="252372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Implementation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332776" y="3008015"/>
            <a:ext cx="520379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Products stored in 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Python dictionary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(name as key, price and quantity as values). Helper functions: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3C9C5"/>
                </a:solidFill>
                <a:highlight>
                  <a:srgbClr val="4D3F4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clean_name()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for text normalization,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3C9C5"/>
                </a:solidFill>
                <a:highlight>
                  <a:srgbClr val="4D3F4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ask_number()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for validated numeric input, and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3C9C5"/>
                </a:solidFill>
                <a:highlight>
                  <a:srgbClr val="4D3F4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total_inventory_value()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computing price × quantity. A loop-driven menu lets users select operations until Exit.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2684"/>
            <a:ext cx="523763" cy="206276"/>
          </a:xfrm>
          <a:prstGeom prst="roundRect">
            <a:avLst>
              <a:gd name="adj" fmla="val 7903"/>
            </a:avLst>
          </a:prstGeom>
          <a:noFill/>
          <a:ln w="6350">
            <a:solidFill>
              <a:srgbClr val="E2C2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2931" y="563364"/>
            <a:ext cx="970434" cy="124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E2C2B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TASK 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767953"/>
            <a:ext cx="10868745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Customer Churn Prediction</a:t>
            </a:r>
            <a:endParaRPr lang="en-US" sz="26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48693"/>
            <a:ext cx="6948611" cy="39375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47818" y="2734072"/>
            <a:ext cx="3588652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The Business Problem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947818" y="3044031"/>
            <a:ext cx="3588652" cy="746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Customers leave the bank by closing their accounts — a costly problem. This project builds a </a:t>
            </a:r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Machine Learning model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to predict which customers are likely to churn before it happens.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947818" y="3888581"/>
            <a:ext cx="3588652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Target Variable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61475" y="5605959"/>
            <a:ext cx="10868745" cy="729258"/>
          </a:xfrm>
          <a:prstGeom prst="roundRect">
            <a:avLst>
              <a:gd name="adj" fmla="val 2794"/>
            </a:avLst>
          </a:prstGeom>
          <a:solidFill>
            <a:srgbClr val="5F5153"/>
          </a:solidFill>
          <a:ln/>
        </p:spPr>
      </p:sp>
      <p:sp>
        <p:nvSpPr>
          <p:cNvPr id="10" name="Shape 7"/>
          <p:cNvSpPr/>
          <p:nvPr/>
        </p:nvSpPr>
        <p:spPr>
          <a:xfrm>
            <a:off x="661475" y="5605959"/>
            <a:ext cx="5434373" cy="729258"/>
          </a:xfrm>
          <a:custGeom>
            <a:avLst/>
            <a:gdLst/>
            <a:ahLst/>
            <a:cxnLst/>
            <a:rect l="l" t="t" r="r" b="b"/>
            <a:pathLst>
              <a:path w="5434373" h="729258">
                <a:moveTo>
                  <a:pt x="16982" y="0"/>
                </a:moveTo>
                <a:lnTo>
                  <a:pt x="5434373" y="0"/>
                </a:lnTo>
                <a:lnTo>
                  <a:pt x="5434373" y="729258"/>
                </a:lnTo>
                <a:lnTo>
                  <a:pt x="16982" y="729258"/>
                </a:lnTo>
                <a:arcTo hR="16983" wR="16982" stAng="5400000" swAng="5400000"/>
                <a:lnTo>
                  <a:pt x="0" y="16983"/>
                </a:lnTo>
                <a:arcTo hR="16983" wR="16982" stAng="10800000" swAng="5400000"/>
                <a:close/>
              </a:path>
            </a:pathLst>
          </a:custGeom>
          <a:solidFill>
            <a:srgbClr val="5F5153"/>
          </a:solidFill>
          <a:ln/>
        </p:spPr>
      </p:sp>
      <p:sp>
        <p:nvSpPr>
          <p:cNvPr id="11" name="Text 8"/>
          <p:cNvSpPr/>
          <p:nvPr/>
        </p:nvSpPr>
        <p:spPr>
          <a:xfrm>
            <a:off x="797302" y="5741789"/>
            <a:ext cx="5162719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Exited = 0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7302" y="6012656"/>
            <a:ext cx="5162719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Customer stayed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095848" y="5605959"/>
            <a:ext cx="5434373" cy="729258"/>
          </a:xfrm>
          <a:custGeom>
            <a:avLst/>
            <a:gdLst/>
            <a:ahLst/>
            <a:cxnLst/>
            <a:rect l="l" t="t" r="r" b="b"/>
            <a:pathLst>
              <a:path w="5434373" h="729258">
                <a:moveTo>
                  <a:pt x="0" y="0"/>
                </a:moveTo>
                <a:lnTo>
                  <a:pt x="5417390" y="0"/>
                </a:lnTo>
                <a:arcTo hR="16983" wR="16982" stAng="16200000" swAng="5400000"/>
                <a:lnTo>
                  <a:pt x="5434373" y="712275"/>
                </a:lnTo>
                <a:arcTo hR="16983" wR="16982" stAng="0" swAng="5400000"/>
                <a:lnTo>
                  <a:pt x="0" y="729258"/>
                </a:lnTo>
                <a:lnTo>
                  <a:pt x="0" y="0"/>
                </a:lnTo>
                <a:close/>
              </a:path>
            </a:pathLst>
          </a:custGeom>
          <a:solidFill>
            <a:srgbClr val="5F5153"/>
          </a:solidFill>
          <a:ln/>
        </p:spPr>
      </p:sp>
      <p:sp>
        <p:nvSpPr>
          <p:cNvPr id="14" name="Shape 11"/>
          <p:cNvSpPr/>
          <p:nvPr/>
        </p:nvSpPr>
        <p:spPr>
          <a:xfrm>
            <a:off x="6095848" y="5605959"/>
            <a:ext cx="19050" cy="729258"/>
          </a:xfrm>
          <a:prstGeom prst="roundRect">
            <a:avLst>
              <a:gd name="adj" fmla="val 49999"/>
            </a:avLst>
          </a:prstGeom>
          <a:solidFill>
            <a:srgbClr val="786A6C"/>
          </a:solidFill>
          <a:ln/>
        </p:spPr>
      </p:sp>
      <p:sp>
        <p:nvSpPr>
          <p:cNvPr id="15" name="Text 12"/>
          <p:cNvSpPr/>
          <p:nvPr/>
        </p:nvSpPr>
        <p:spPr>
          <a:xfrm>
            <a:off x="6231675" y="5741789"/>
            <a:ext cx="5162719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Exited = 1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231675" y="6012656"/>
            <a:ext cx="5162719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Customer churned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632504" cy="143470"/>
          </a:xfrm>
          <a:prstGeom prst="roundRect">
            <a:avLst>
              <a:gd name="adj" fmla="val 7905"/>
            </a:avLst>
          </a:prstGeom>
          <a:noFill/>
          <a:ln w="6350">
            <a:solidFill>
              <a:srgbClr val="E2C2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8127" y="548084"/>
            <a:ext cx="1128783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E2C2B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TASK 3 — EDA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Dataset &amp; Exploratory Data Analysis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3106737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Dataset Overview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61475" y="3301603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10,000 rows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×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14 columns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covering customer demographics and financial behavior.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61475" y="3457476"/>
            <a:ext cx="5319083" cy="373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Credit Score, Age, Tenure, Balance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Geography, Gender, Credit Card status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Active Member, Estimated Salary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61475" y="3877866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EDA Checks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61475" y="4072731"/>
            <a:ext cx="5319083" cy="373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Row/column count and data types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Missing values and duplicates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Basic statistics and distributions</a:t>
            </a:r>
            <a:endParaRPr lang="en-US" sz="7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487" y="1101328"/>
            <a:ext cx="5319083" cy="53192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43855"/>
            <a:ext cx="2984723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E2C2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900509"/>
            <a:ext cx="336749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2C2B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TASK 3 — CLEANING &amp; ENGINEERING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20659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Data Cleaning &amp; Feature Engineering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26972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Cleaning Steps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2754015"/>
            <a:ext cx="5203794" cy="261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Median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imputation for numerical columns (Credit Score, Age, Balance)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Mode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imputation for categorical columns (Gender, Surname)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Standardized Gender capitalization; trimmed whitespace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Removed 1 malformed record (invalid Customer ID and Age 45,446)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1475" y="5541665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Result: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9,999 valid records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32776" y="226972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Feature Engineering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332776" y="2754015"/>
            <a:ext cx="5203794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Dropped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3C9C5"/>
                </a:solidFill>
                <a:highlight>
                  <a:srgbClr val="4D3F4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RowNumber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,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3C9C5"/>
                </a:solidFill>
                <a:highlight>
                  <a:srgbClr val="4D3F4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CustomerId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,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3C9C5"/>
                </a:solidFill>
                <a:highlight>
                  <a:srgbClr val="4D3F4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Surname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One-Hot Encoding for Geography and Gender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StandardScaler for numerical features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80/20 stratified split → 7,999 train / 2,000 test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332776" y="4374555"/>
            <a:ext cx="5203794" cy="1039416"/>
          </a:xfrm>
          <a:prstGeom prst="roundRect">
            <a:avLst>
              <a:gd name="adj" fmla="val 2728"/>
            </a:avLst>
          </a:prstGeom>
          <a:solidFill>
            <a:srgbClr val="5C3523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1783" y="4667647"/>
            <a:ext cx="236234" cy="1890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947024" y="4591844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Pipeline fitted on training data only to prevent data leakage.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6539"/>
            <a:ext cx="1732614" cy="278110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E2C2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1307" y="621407"/>
            <a:ext cx="2122534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2C2B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TASK 3 — MODELING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15591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Model Training &amp; Evaluation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61475" y="1931095"/>
            <a:ext cx="351364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Models Trained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61475" y="2394446"/>
            <a:ext cx="3513645" cy="1277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Logistic Regression</a:t>
            </a:r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baseline linear model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Decision Tree</a:t>
            </a:r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rule-based splits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Random Forest</a:t>
            </a:r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ensemble of trees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1475" y="3849489"/>
            <a:ext cx="351364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Evaluation Metrics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1475" y="4312841"/>
            <a:ext cx="3513645" cy="1916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Accuracy — overall correctness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Precision — correctness of positive predictions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Recall — ability to detect churners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F1-Score — balance of precision and recall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8141" y="2065238"/>
            <a:ext cx="6908330" cy="39147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551656"/>
            <a:ext cx="1425142" cy="255786"/>
          </a:xfrm>
          <a:prstGeom prst="roundRect">
            <a:avLst>
              <a:gd name="adj" fmla="val 7898"/>
            </a:avLst>
          </a:prstGeom>
          <a:noFill/>
          <a:ln w="6350">
            <a:solidFill>
              <a:srgbClr val="E2C2B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477" y="602159"/>
            <a:ext cx="1832723" cy="154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E2C2B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TASK 3 — RESULTS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61475" y="867370"/>
            <a:ext cx="6296860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Results &amp; Observations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661475" y="1618258"/>
            <a:ext cx="6296860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</a:t>
            </a:r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Random Forest model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achieved the best overall performance, outperforming Logistic Regression and Decision Tree on most metrics. Logistic Regression performed the weakest.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550716"/>
            <a:ext cx="6296860" cy="98216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24993" y="2738041"/>
            <a:ext cx="58460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Strong Recall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924993" y="3090962"/>
            <a:ext cx="5846021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model successfully identified most customers who actually churned.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682802"/>
            <a:ext cx="6296860" cy="123676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24993" y="3870127"/>
            <a:ext cx="58460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Key Insight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924993" y="4223048"/>
            <a:ext cx="584602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Random Forest is well-suited for tabular customer data with mixed feature types.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5069483"/>
            <a:ext cx="6296860" cy="123676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24993" y="5256808"/>
            <a:ext cx="58460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Takeaway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924993" y="5609729"/>
            <a:ext cx="584602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Ensemble methods consistently outperform single-model approaches on this dataset.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91690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Thank You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791023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This presentation covered three tasks — a Smart Attendance System, an Inventory Management System, and a Customer Churn Prediction model. Each task demonstrates Python programming, data cleaning, and Machine Learning skills.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944936" y="4425950"/>
            <a:ext cx="662298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Zohaib Sattar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BS Artificial Intelligence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4213324"/>
            <a:ext cx="25399" cy="727670"/>
          </a:xfrm>
          <a:prstGeom prst="roundRect">
            <a:avLst>
              <a:gd name="adj" fmla="val 50001"/>
            </a:avLst>
          </a:prstGeom>
          <a:solidFill>
            <a:srgbClr val="E2C2B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2026-09-26T09:43:25Z</dcterms:created>
  <dcterms:modified xsi:type="dcterms:W3CDTF">2026-09-26T09:43:25Z</dcterms:modified>
</cp:coreProperties>
</file>